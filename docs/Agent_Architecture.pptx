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78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80B9"/>
                </a:solidFill>
              </a:defRPr>
            </a:pPr>
            <a:r>
              <a:t>Multi-Agent Research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23232"/>
                </a:solidFill>
              </a:defRPr>
            </a:pPr>
            <a:r>
              <a:t>Architecture &amp; Module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747" y="3291840"/>
            <a:ext cx="68125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E44AD"/>
                </a:solidFill>
              </a:defRPr>
            </a:pPr>
            <a:r>
              <a:rPr lang="en-US" dirty="0"/>
              <a:t>Heqiao Ruan | </a:t>
            </a:r>
            <a:r>
              <a:rPr dirty="0" err="1"/>
              <a:t>LangGraph</a:t>
            </a:r>
            <a:r>
              <a:rPr dirty="0"/>
              <a:t> Workflow | 7 Specialist Agents | Self-Correction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23232"/>
                </a:solidFill>
              </a:defRPr>
            </a:pPr>
            <a:r>
              <a:t>System Overview - Two Execution Modes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384048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 1: LangGraph (Default)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32004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Self-corrective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57600" cy="32004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Hallucination checking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0" cy="32004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Answer quality grading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657600" cy="32004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Max 3 retry iterations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731520"/>
            <a:ext cx="3840480" cy="5486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 2: Coordinator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371600"/>
            <a:ext cx="3657600" cy="320040"/>
          </a:xfrm>
          <a:prstGeom prst="roundRect">
            <a:avLst/>
          </a:prstGeom>
          <a:solidFill>
            <a:srgbClr val="F5EEF8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Classic multi-agent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737360"/>
            <a:ext cx="3657600" cy="320040"/>
          </a:xfrm>
          <a:prstGeom prst="roundRect">
            <a:avLst/>
          </a:prstGeom>
          <a:solidFill>
            <a:srgbClr val="F5EEF8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Tool-based delegation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103120"/>
            <a:ext cx="3657600" cy="320040"/>
          </a:xfrm>
          <a:prstGeom prst="roundRect">
            <a:avLst/>
          </a:prstGeom>
          <a:solidFill>
            <a:srgbClr val="F5EEF8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Direct synthesis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468880"/>
            <a:ext cx="3657600" cy="320040"/>
          </a:xfrm>
          <a:prstGeom prst="roundRect">
            <a:avLst/>
          </a:prstGeom>
          <a:solidFill>
            <a:srgbClr val="F5EEF8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Conversation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017520"/>
            <a:ext cx="54864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 SPECIALIST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1143000" cy="36576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t>Statistics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3566160"/>
            <a:ext cx="1143000" cy="36576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t>Biology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566160"/>
            <a:ext cx="1143000" cy="36576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t>Psychology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566160"/>
            <a:ext cx="1143000" cy="36576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t>Philosophy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566160"/>
            <a:ext cx="1143000" cy="36576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t>Psychiatry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566160"/>
            <a:ext cx="1143000" cy="36576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t>Applications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566160"/>
            <a:ext cx="1143000" cy="36576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t>Product Mgr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114800"/>
            <a:ext cx="548640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EXTERNAL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572000"/>
            <a:ext cx="1645920" cy="320040"/>
          </a:xfrm>
          <a:prstGeom prst="roundRect">
            <a:avLst/>
          </a:prstGeom>
          <a:solidFill>
            <a:srgbClr val="FAE5D3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OpenAI GPT-4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572000"/>
            <a:ext cx="1645920" cy="320040"/>
          </a:xfrm>
          <a:prstGeom prst="roundRect">
            <a:avLst/>
          </a:prstGeom>
          <a:solidFill>
            <a:srgbClr val="FAE5D3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DuckDuckGo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4572000"/>
            <a:ext cx="1645920" cy="320040"/>
          </a:xfrm>
          <a:prstGeom prst="roundRect">
            <a:avLst/>
          </a:prstGeom>
          <a:solidFill>
            <a:srgbClr val="FAE5D3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Tavily (opt)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80B9"/>
                </a:solidFill>
              </a:defRPr>
            </a:pPr>
            <a:r>
              <a:t>LangGraph Workflow - Self-Corrective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1645920" cy="41148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4" name="Down Arrow 3"/>
          <p:cNvSpPr/>
          <p:nvPr/>
        </p:nvSpPr>
        <p:spPr>
          <a:xfrm>
            <a:off x="868680" y="1097280"/>
            <a:ext cx="182880" cy="228600"/>
          </a:xfrm>
          <a:prstGeom prst="down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645920" cy="5029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ROUTE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question_router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65960" y="1554480"/>
            <a:ext cx="274320" cy="13716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86000" y="640080"/>
            <a:ext cx="16459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PRIMARY</a:t>
            </a:r>
            <a:br/>
            <a:r>
              <a:t>AGENT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80360" y="1188720"/>
            <a:ext cx="182880" cy="228600"/>
          </a:xfrm>
          <a:prstGeom prst="down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86000" y="1463040"/>
            <a:ext cx="16459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SECONDARY</a:t>
            </a:r>
            <a:br/>
            <a:r>
              <a:t>AGENTS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77639" y="1645920"/>
            <a:ext cx="274320" cy="13716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97680" y="640080"/>
            <a:ext cx="164592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  <a:br/>
            <a:r>
              <a:t>SEARCH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892040" y="1188720"/>
            <a:ext cx="182880" cy="22860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164592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SYNTHESIZE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1645920"/>
            <a:ext cx="274320" cy="137160"/>
          </a:xfrm>
          <a:prstGeom prst="right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60" y="640080"/>
            <a:ext cx="16459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HALLUCINATION</a:t>
            </a:r>
            <a:br/>
            <a:r>
              <a:t>CHECK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903720" y="1188720"/>
            <a:ext cx="182880" cy="228600"/>
          </a:xfrm>
          <a:prstGeom prst="down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16459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GRADE</a:t>
            </a:r>
            <a:br/>
            <a:r>
              <a:t>ANSWER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01000" y="1645920"/>
            <a:ext cx="274320" cy="13716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98079" y="2194560"/>
            <a:ext cx="118872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194560"/>
            <a:ext cx="10972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286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67E22"/>
                </a:solidFill>
              </a:defRPr>
            </a:pPr>
            <a:r>
              <a:t>&lt; - - - - RETRY (max 3) - - - - &lt;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834640"/>
            <a:ext cx="85953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1. Route Decision:  single_domain | cross_domain | web_search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2. After Primary:  query_secondary? | web_search? | check_hallucination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3. Hallucination:  grounded -&gt; grade | not_grounded -&gt; web_search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4. Answer Grade:  useful -&gt; output | not_useful -&gt; refine &amp; retry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7AE60"/>
                </a:solidFill>
              </a:defRPr>
            </a:pPr>
            <a:r>
              <a:t>Specialist Agents - Domain Experts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640080"/>
            <a:ext cx="2743200" cy="64008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BaseAgent (Abstract)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OpenAI client, web_search, chat loop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43400" y="1325880"/>
            <a:ext cx="182880" cy="274320"/>
          </a:xfrm>
          <a:prstGeom prst="down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737360"/>
            <a:ext cx="1965960" cy="10058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Statistics Agent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Inference, Regression</a:t>
            </a:r>
            <a:br/>
            <a:r>
              <a:t>Bayesian, ML Theory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737360"/>
            <a:ext cx="1965960" cy="10058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Biology Agent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Genetics, Ecology</a:t>
            </a:r>
            <a:br/>
            <a:r>
              <a:t>Molecular, Evolution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1965960" cy="100584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Psychology Agent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Cognitive, Social</a:t>
            </a:r>
            <a:br/>
            <a:r>
              <a:t>Clinical,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37360"/>
            <a:ext cx="1965960" cy="1005840"/>
          </a:xfrm>
          <a:prstGeom prst="round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Philosophy Agent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Ethics, Epistemology</a:t>
            </a:r>
            <a:br/>
            <a:r>
              <a:t>Metaphysics, Phil. Mind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26080"/>
            <a:ext cx="1965960" cy="100584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Psychiatry Agent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Disorders, Pharma</a:t>
            </a:r>
            <a:br/>
            <a:r>
              <a:t>Neuroimaging, Clinical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926080"/>
            <a:ext cx="1965960" cy="10058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Applications Agent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Real-world Use</a:t>
            </a:r>
            <a:br/>
            <a:r>
              <a:t>Industry 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1965960" cy="10058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Product Manager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Product Strategy</a:t>
            </a:r>
            <a:br/>
            <a:r>
              <a:t>Research-to-Product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926080"/>
            <a:ext cx="1965960" cy="10058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Coordinator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Orchestrates agents</a:t>
            </a:r>
            <a:br/>
            <a:r>
              <a:t>via delegate_to_agent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323232"/>
                </a:solidFill>
              </a:defRPr>
            </a:pPr>
            <a:r>
              <a:t>Each agent has: name, description, system_prompt, web_search tool, conversation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67E22"/>
                </a:solidFill>
              </a:defRPr>
            </a:pPr>
            <a:r>
              <a:t>Quality Control Modules (graders.py)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20116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question_router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73152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Classifies question to domain(s)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Input: question</a:t>
            </a:r>
            <a:br/>
            <a:r>
              <a:t>Output: primary_domain, secondary_domains, needs_web_search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08760"/>
            <a:ext cx="20116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hallucination_grader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Checks if response is grounded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508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Input: documents, generation</a:t>
            </a:r>
            <a:br/>
            <a:r>
              <a:t>Output: score (yes/no), unsupported_claims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86000"/>
            <a:ext cx="20116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answer_grader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8600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Checks if answer addresses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Input: question, generation</a:t>
            </a:r>
            <a:br/>
            <a:r>
              <a:t>Output: score (yes/no), missing_aspects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063240"/>
            <a:ext cx="20116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query_refiner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6324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Improves query for retry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Input: question, generation, issues</a:t>
            </a:r>
            <a:br/>
            <a:r>
              <a:t>Output: refined_query, focus_areas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20116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response_synthesizer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8404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Combines multi-agent responses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840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Input: question, agent_responses, web_results</a:t>
            </a:r>
            <a:br/>
            <a:r>
              <a:t>Output: unified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572000"/>
            <a:ext cx="8595360" cy="365760"/>
          </a:xfrm>
          <a:prstGeom prst="roundRect">
            <a:avLst/>
          </a:prstGeom>
          <a:solidFill>
            <a:srgbClr val="FA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All graders use GPT-3.5-turbo for speed/cost efficiency with JSON output parsing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80B9"/>
                </a:solidFill>
              </a:defRPr>
            </a:pPr>
            <a:r>
              <a:t>Architecture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1645920" cy="5029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7315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LangGraph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7315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Complex multi-step reasoning with conditional branching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6459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Self-Correction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3716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Hallucination check -&gt; Retry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Ensures quality by detecting and fixing hallucinations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011680"/>
            <a:ext cx="164592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Multi-Agent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116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question_router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Routes queries to appropriate domain experts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651760"/>
            <a:ext cx="1645920" cy="5029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517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response_synthesizer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5176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Combines multiple expert opinions coherently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291840"/>
            <a:ext cx="16459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Template Inheritance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2918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BaseAgent -&gt; specialists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9184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Shared functionality (web search, chat loop)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31920"/>
            <a:ext cx="164592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Tool Delegation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9319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Coordinator -&gt;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Orchestrates specialists via function calling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572000"/>
            <a:ext cx="8595360" cy="4114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Key: LangGraph enables self-correcting AI workflows with quality gates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515</Words>
  <Application>Microsoft Macintosh PowerPoint</Application>
  <PresentationFormat>On-screen Show (16:9)</PresentationFormat>
  <Paragraphs>100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Ruan, Heqiao</cp:lastModifiedBy>
  <cp:revision>3</cp:revision>
  <dcterms:created xsi:type="dcterms:W3CDTF">2013-01-27T09:14:16Z</dcterms:created>
  <dcterms:modified xsi:type="dcterms:W3CDTF">2026-01-02T05:49:14Z</dcterms:modified>
  <cp:category/>
</cp:coreProperties>
</file>